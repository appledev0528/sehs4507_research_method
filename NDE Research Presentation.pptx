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6140" y="136779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200"/>
              </a:lnSpc>
              <a:buNone/>
            </a:pPr>
            <a:r>
              <a:rPr lang="en-US" sz="4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濒死体验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677478" y="2205990"/>
            <a:ext cx="378904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25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对身份与世界观的变革性影响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3905250" y="2853690"/>
            <a:ext cx="13335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香港跨文化研究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918466" y="3585210"/>
            <a:ext cx="130694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研究团队 |2025年11月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2489121" cy="10591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21" y="1325880"/>
            <a:ext cx="2489240" cy="10591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60" y="1325880"/>
            <a:ext cx="2489121" cy="10591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演讲概述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80"/>
            <a:ext cx="2072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38200" y="1950720"/>
            <a:ext cx="203192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研究演变与知识空白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555921" y="1554480"/>
            <a:ext cx="207268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文献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555921" y="1950720"/>
            <a:ext cx="203204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现有研究的主要发现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273760" y="1554480"/>
            <a:ext cx="207255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360"/>
              </a:lnSpc>
              <a:buNone/>
            </a:pPr>
            <a:r>
              <a:rPr lang="en-US" sz="21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发现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6273760" y="1950720"/>
            <a:ext cx="2031921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我们的研究结果与影响</a:t>
            </a:r>
            <a:endParaRPr lang="en-US" sz="11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769870"/>
            <a:ext cx="7924800" cy="176403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什么是濒死体验？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828800" y="1325881"/>
            <a:ext cx="54864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面对死亡或危及生命危机的个体所经历的深刻心理事件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19200" y="3074670"/>
            <a:ext cx="70104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灵魂出窍感知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隧道通道与光明相遇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人生回顾与灵性觉知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濒死体验研究的发展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861060" y="1325881"/>
            <a:ext cx="782680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1892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1060" y="1546860"/>
            <a:ext cx="7673340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阿尔伯特·海姆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——与30名登山者的开创性工作;有记录的快速生命回顾与和平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61060" y="1920240"/>
            <a:ext cx="782680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1060" y="2141220"/>
            <a:ext cx="7826807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Raymond Moody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"Life After Life"; introduced Moody Model of NDE features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1060" y="2468881"/>
            <a:ext cx="7826807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1983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1060" y="2689860"/>
            <a:ext cx="7826807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Bruce Greyson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Greyson NDE Scale; standardized measurement for empirical research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3810000" cy="10744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325880"/>
            <a:ext cx="3810000" cy="10744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2705100"/>
            <a:ext cx="3810000" cy="10744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2705100"/>
            <a:ext cx="3810000" cy="10744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Knowledge Gaps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38200" y="1554480"/>
            <a:ext cx="335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Geographic Bias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38200" y="1836420"/>
            <a:ext cx="3352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studies focus on WEIRD populations; non-Western perspectives underrepresented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4953000" y="1554480"/>
            <a:ext cx="335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Methodological Limitations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53000" y="1836420"/>
            <a:ext cx="3352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reliance on retrospective self-reports; few longitudinal studies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838200" y="2933700"/>
            <a:ext cx="335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Limited Outcome Focus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38200" y="3215641"/>
            <a:ext cx="3352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Little attention to personality traits, values, spirituality, and death anxiety changes</a:t>
            </a:r>
            <a:endParaRPr lang="en-US" sz="1140" dirty="0"/>
          </a:p>
        </p:txBody>
      </p:sp>
      <p:sp>
        <p:nvSpPr>
          <p:cNvPr id="13" name="Text 11"/>
          <p:cNvSpPr/>
          <p:nvPr/>
        </p:nvSpPr>
        <p:spPr>
          <a:xfrm>
            <a:off x="4953000" y="2933700"/>
            <a:ext cx="33528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Cultural Understanding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53000" y="3215641"/>
            <a:ext cx="3352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Interaction between cultural frameworks and NDE content poorly understood</a:t>
            </a:r>
            <a:endParaRPr lang="en-US" sz="11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3810000" cy="14516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325880"/>
            <a:ext cx="3810000" cy="14516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3082291"/>
            <a:ext cx="3810000" cy="14516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24400" y="3082291"/>
            <a:ext cx="3810000" cy="14516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Focus: Four Key Dimensions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14400" y="163068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Personal Traits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264408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Empathy &amp; emotional sensitivity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630680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Life Values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2057400"/>
            <a:ext cx="3264408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Priorities &amp; altruistic orientation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387091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Spiritual Beliefs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813811"/>
            <a:ext cx="3264408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&amp; spiritual transformation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3387091"/>
            <a:ext cx="3264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Death Anxiety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29200" y="3813811"/>
            <a:ext cx="3264408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 of death &amp; existential concerns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0"/>
            <a:ext cx="3810000" cy="32842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680"/>
            <a:ext cx="3810000" cy="32842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 &amp; Sample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905000"/>
            <a:ext cx="3048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NDErs (near-death experiencers)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control group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Location: Hong Kong &amp; surrounding regions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0" y="1478280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Innovative Features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57800" y="1905000"/>
            <a:ext cx="304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data collection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for participants with limited education/literacy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Inclusive socioeconomic representation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0"/>
            <a:ext cx="2489121" cy="15544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21" y="1325880"/>
            <a:ext cx="2489240" cy="15544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60" y="1325880"/>
            <a:ext cx="2489121" cy="155448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Methodology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17881" y="1554480"/>
            <a:ext cx="207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Quantitative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81200"/>
            <a:ext cx="2031921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Psychometric measures: empathy scales, spirituality inventories, death anxiety questionnaires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3535600" y="1554480"/>
            <a:ext cx="2072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Qualitative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55921" y="1981200"/>
            <a:ext cx="203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Semi-structured interviews capturing lived experiences and personal narratives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6253441" y="1554480"/>
            <a:ext cx="207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73760" y="1981200"/>
            <a:ext cx="2031921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114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Language processing &amp; pattern recognition for thematic analysis</a:t>
            </a:r>
            <a:endParaRPr lang="en-US" sz="11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Personality Changes Post-NDE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</a:t>
            </a:r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NDEs catalyze profound, enduring personality transformations (effects persist for decades)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7734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Altruistic Orientation: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Heightened empathy, compassion, and prosocial concern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Materialism: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Reduced emphasis on wealth; greater focus on meaning and authenticity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Personality redirected toward greater altruism and spiritual growth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3810000" cy="16802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682"/>
            <a:ext cx="3810000" cy="168021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 Transformation Post-NDE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NDE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52600"/>
            <a:ext cx="3048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achievement focus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Materialism &amp; wealth emphasis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Self-centered worldview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0" y="147828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NDE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57800" y="1752600"/>
            <a:ext cx="3048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Meaning-centered goals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&amp; altruism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transcendence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09600" y="4373882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Evidence: Sutherland (1992), Greyson &amp; Khanna (2014) - changes remain stable for decades</a:t>
            </a:r>
            <a:endParaRPr lang="en-US" sz="10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Religious &amp; Spiritual Belief Shifts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Increased Belief in Afterlife: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Greater conviction in spiritual continuation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Spirituality Over Institutionalism: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Shift from organized religion to individual spiritual practice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Spiritual Dependence: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Turning to spiritual frameworks as source of meaning and resilience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Cultural Variation: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Expression of spiritual transformation differs across cultures and contexts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Reduction in Death Anxiety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Consistent Finding in NDE Research: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5354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Dramatic Decrease in Fear of Death: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NDErs experience significantly lower death anxiety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Life Appreciation: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Death becomes less threatening; life becomes more meaningful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Altered meaning-making processes mediate reduced anxiety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960373"/>
            <a:ext cx="8083296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96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Some temporary distress or confusion reported; overall trajectory is reduced existential fear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41346" y="3135632"/>
            <a:ext cx="6661309" cy="8077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174733" y="1200150"/>
            <a:ext cx="6794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Study Matters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174733" y="1916432"/>
            <a:ext cx="6794535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research on NDEs in Asia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74733" y="2480309"/>
            <a:ext cx="6794535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2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study fills a significant knowledge gap and reveals culturally specific manifestations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485629" y="3440432"/>
            <a:ext cx="6172743" cy="198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84"/>
              </a:lnSpc>
              <a:buNone/>
            </a:pPr>
            <a:r>
              <a:rPr lang="en-US" sz="132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systematic cross-cultural NDE study in Hong Kong region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325882"/>
            <a:ext cx="2489121" cy="15849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327321" y="1325882"/>
            <a:ext cx="2489240" cy="15849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45160" y="1325882"/>
            <a:ext cx="2489121" cy="15849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Research Findings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38200" y="1554482"/>
            <a:ext cx="207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38200" y="1981200"/>
            <a:ext cx="203192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Higher Empathy</a:t>
            </a:r>
            <a:pPr indent="0" marL="0">
              <a:lnSpc>
                <a:spcPts val="1440"/>
              </a:lnSpc>
              <a:buNone/>
            </a:pP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NDErs show significantly increased empathy and emotional sensitivity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55921" y="1554482"/>
            <a:ext cx="207268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55921" y="1981200"/>
            <a:ext cx="203204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Lower Death Anxiety</a:t>
            </a:r>
            <a:pPr indent="0" marL="0">
              <a:lnSpc>
                <a:spcPts val="1440"/>
              </a:lnSpc>
              <a:buNone/>
            </a:pP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fear of death compared to control group participants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73760" y="1554482"/>
            <a:ext cx="20725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273760" y="1981200"/>
            <a:ext cx="2031921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Spiritual Shift</a:t>
            </a:r>
            <a:pPr indent="0" marL="0">
              <a:lnSpc>
                <a:spcPts val="1440"/>
              </a:lnSpc>
              <a:buNone/>
            </a:pPr>
            <a:endParaRPr lang="en-US" sz="1200" dirty="0"/>
          </a:p>
          <a:p>
            <a:pPr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Significant changes in spiritual orientation and altruistic values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7924800" cy="13792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1: Dissolution of Ego Boundaries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554482"/>
            <a:ext cx="7315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sense of 'I' dissolved. There was only unity and interconnectedness with all things."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148841"/>
            <a:ext cx="74615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describe transcendence of individual identity and merger with universal consciousness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661164"/>
            <a:ext cx="7924800" cy="13792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2: Reorientation Toward Spiritual Meaning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914400" y="1965964"/>
            <a:ext cx="73152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"My priorities completely changed. Career, money—none of it matters anymore. I now live for purpose and connection."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41248" y="2560318"/>
            <a:ext cx="7461504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reoriented toward meaning, service, and spiritual practices over material pursuits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9027" y="1661164"/>
            <a:ext cx="7565827" cy="115824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609600"/>
            <a:ext cx="792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3: Existential Reconciliation with Mortality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1024265" y="1965964"/>
            <a:ext cx="7095351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"Death is no longer an enemy. It's simply a transition. I'm at peace with this reality."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24265" y="2339346"/>
            <a:ext cx="7095351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Fundamental shift in relationship with mortality; acceptance and reduced fear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249682"/>
            <a:ext cx="3810000" cy="32842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724400" y="1249682"/>
            <a:ext cx="3810000" cy="328422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NDE Group vs Control Group Comparison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838200" y="147828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NDErs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905000"/>
            <a:ext cx="3048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Higher empathy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Lower death anxiety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Greater spirituality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Stronger altruistic values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Life purpose focused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953000" y="1478282"/>
            <a:ext cx="3419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80"/>
              </a:lnSpc>
              <a:buNone/>
            </a:pPr>
            <a:r>
              <a:rPr lang="en-US" sz="18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Group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57800" y="1905000"/>
            <a:ext cx="30480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empathy levels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death anxiety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Conventional spirituality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Mixed value orientation</a:t>
            </a:r>
            <a:endParaRPr lang="en-US" sz="1050" dirty="0"/>
          </a:p>
          <a:p>
            <a:pPr marL="342900" indent="-342900">
              <a:lnSpc>
                <a:spcPts val="2520"/>
              </a:lnSpc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Varied priorities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 Contributions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325882"/>
            <a:ext cx="7620000" cy="2537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Fills Asian Knowledge Gap: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First systematic cross-cultural NDE study in Hong Kong region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Cultural Specificity: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Reveals how Asian cultural contexts shape NDE manifestations and meaning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Methodological Innovation: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AI-assisted data collection includes underrepresented populations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Theoretical Advancement: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Enriches understanding of transformation mechanisms across cultures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32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Directions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156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Longitudinal Tracking: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Multi-year follow-up studies to document trajectory of personality and value changes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Cross-Cultural Expansion: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Extend research across Asia and other non-Western regions for comprehensive patterns</a:t>
            </a:r>
            <a:endParaRPr lang="en-US" sz="1350" dirty="0"/>
          </a:p>
          <a:p>
            <a:pPr marL="342900" indent="-342900">
              <a:lnSpc>
                <a:spcPts val="3240"/>
              </a:lnSpc>
              <a:buSzPct val="100000"/>
              <a:buChar char="•"/>
            </a:pPr>
            <a:r>
              <a:rPr lang="en-US" sz="135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Studies:</a:t>
            </a:r>
            <a:pPr indent="0" marL="0">
              <a:lnSpc>
                <a:spcPts val="324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Investigate neurobiological and psychological processes underlying transformative effects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118" y="3394714"/>
            <a:ext cx="6867763" cy="632460"/>
          </a:xfrm>
          <a:prstGeom prst="rect">
            <a:avLst/>
          </a:prstGeom>
          <a:solidFill>
            <a:srgbClr val="1E293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172846" y="1116332"/>
            <a:ext cx="27983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600" y="1969768"/>
            <a:ext cx="79248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Near-death experiences profoundly reshape identity, values, spirituality, and existential outlook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10264" y="2716532"/>
            <a:ext cx="6523473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research reveals unique Asian cultural manifestations of transformation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02613" y="3623314"/>
            <a:ext cx="6538775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Advancing our understanding of human resilience, meaning-making, and transcendence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206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1647" y="1684018"/>
            <a:ext cx="234070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760"/>
              </a:lnSpc>
              <a:buNone/>
            </a:pPr>
            <a:r>
              <a:rPr lang="en-US" sz="3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3545923" y="2461264"/>
            <a:ext cx="2052035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106228" y="3139446"/>
            <a:ext cx="93154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Team</a:t>
            </a:r>
            <a:endParaRPr lang="en-US" sz="1050" dirty="0"/>
          </a:p>
          <a:p>
            <a:pPr algn="ctr" indent="0" marL="0">
              <a:lnSpc>
                <a:spcPts val="126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Hong Kong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Perplexity</cp:lastModifiedBy>
  <cp:revision>1</cp:revision>
  <dcterms:created xsi:type="dcterms:W3CDTF">2025-11-26T18:03:25Z</dcterms:created>
  <dcterms:modified xsi:type="dcterms:W3CDTF">2025-11-26T18:03:25Z</dcterms:modified>
</cp:coreProperties>
</file>